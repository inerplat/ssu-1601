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9"/>
  </p:notesMasterIdLst>
  <p:sldIdLst>
    <p:sldId id="320" r:id="rId2"/>
    <p:sldId id="257" r:id="rId3"/>
    <p:sldId id="258" r:id="rId4"/>
    <p:sldId id="259" r:id="rId5"/>
    <p:sldId id="260" r:id="rId6"/>
    <p:sldId id="335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36" r:id="rId33"/>
    <p:sldId id="332" r:id="rId34"/>
    <p:sldId id="296" r:id="rId35"/>
    <p:sldId id="287" r:id="rId36"/>
    <p:sldId id="289" r:id="rId37"/>
    <p:sldId id="295" r:id="rId38"/>
    <p:sldId id="292" r:id="rId39"/>
    <p:sldId id="293" r:id="rId40"/>
    <p:sldId id="294" r:id="rId41"/>
    <p:sldId id="297" r:id="rId42"/>
    <p:sldId id="298" r:id="rId43"/>
    <p:sldId id="299" r:id="rId44"/>
    <p:sldId id="300" r:id="rId45"/>
    <p:sldId id="302" r:id="rId46"/>
    <p:sldId id="337" r:id="rId47"/>
    <p:sldId id="338" r:id="rId48"/>
    <p:sldId id="321" r:id="rId49"/>
    <p:sldId id="303" r:id="rId50"/>
    <p:sldId id="322" r:id="rId51"/>
    <p:sldId id="304" r:id="rId52"/>
    <p:sldId id="305" r:id="rId53"/>
    <p:sldId id="323" r:id="rId54"/>
    <p:sldId id="306" r:id="rId55"/>
    <p:sldId id="307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9" r:id="rId65"/>
    <p:sldId id="340" r:id="rId66"/>
    <p:sldId id="318" r:id="rId67"/>
    <p:sldId id="319" r:id="rId6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F0066"/>
    <a:srgbClr val="FF5050"/>
    <a:srgbClr val="990099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67CE2-9F5A-4085-91A2-A0CCC6CF54C4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F9435-F130-44EA-B6F7-DF737462B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5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851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60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453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88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75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33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75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4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453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7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05848-D622-4C8E-BCCE-907D5D4D77BC}" type="datetimeFigureOut">
              <a:rPr lang="ko-KR" altLang="en-US" smtClean="0"/>
              <a:t>2016-06-30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0CEA9-72DB-45F1-8294-282770A13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89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1" y="-8238"/>
            <a:ext cx="914400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79512" y="188640"/>
            <a:ext cx="8856984" cy="72008"/>
            <a:chOff x="179512" y="188640"/>
            <a:chExt cx="8856984" cy="72008"/>
          </a:xfrm>
        </p:grpSpPr>
        <p:cxnSp>
          <p:nvCxnSpPr>
            <p:cNvPr id="6" name="직선 연결선 5"/>
            <p:cNvCxnSpPr/>
            <p:nvPr/>
          </p:nvCxnSpPr>
          <p:spPr>
            <a:xfrm>
              <a:off x="179512" y="188640"/>
              <a:ext cx="885698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>
            <a:xfrm>
              <a:off x="179512" y="260648"/>
              <a:ext cx="885698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179512" y="6597352"/>
            <a:ext cx="8856984" cy="72008"/>
            <a:chOff x="179512" y="6597352"/>
            <a:chExt cx="8856984" cy="72008"/>
          </a:xfrm>
        </p:grpSpPr>
        <p:cxnSp>
          <p:nvCxnSpPr>
            <p:cNvPr id="9" name="직선 연결선 8"/>
            <p:cNvCxnSpPr/>
            <p:nvPr/>
          </p:nvCxnSpPr>
          <p:spPr>
            <a:xfrm>
              <a:off x="179512" y="6669360"/>
              <a:ext cx="885698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>
              <a:off x="179512" y="6597352"/>
              <a:ext cx="8856984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2987824" y="2130148"/>
            <a:ext cx="309634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C</a:t>
            </a:r>
            <a:r>
              <a:rPr lang="ko-KR" altLang="en-US" sz="44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언어</a:t>
            </a:r>
            <a:endParaRPr lang="en-US" altLang="ko-KR" sz="4400" dirty="0">
              <a:solidFill>
                <a:schemeClr val="bg1"/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44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정렬 알고리즘 세미나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7644" y="6002124"/>
            <a:ext cx="5799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숭실대학교 </a:t>
            </a:r>
            <a:r>
              <a:rPr lang="ko-KR" altLang="en-US" sz="2800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ko-KR" altLang="en-US" sz="28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25</a:t>
            </a:r>
            <a:r>
              <a:rPr lang="ko-KR" altLang="en-US" sz="28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기 김동현</a:t>
            </a:r>
          </a:p>
        </p:txBody>
      </p:sp>
    </p:spTree>
    <p:extLst>
      <p:ext uri="{BB962C8B-B14F-4D97-AF65-F5344CB8AC3E}">
        <p14:creationId xmlns:p14="http://schemas.microsoft.com/office/powerpoint/2010/main" val="23425803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1" y="0"/>
            <a:ext cx="458847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41405" y="2901272"/>
            <a:ext cx="1869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5821" y="869947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95821" y="1885610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95821" y="2901273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5821" y="3916936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5821" y="4932599"/>
            <a:ext cx="572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6000" b="1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42704" y="1023835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2704" y="2039498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버블정렬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2704" y="3055160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선택정렬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2704" y="4070824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삽입정렬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2704" y="5086488"/>
            <a:ext cx="2166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그 외</a:t>
            </a:r>
          </a:p>
        </p:txBody>
      </p:sp>
    </p:spTree>
    <p:extLst>
      <p:ext uri="{BB962C8B-B14F-4D97-AF65-F5344CB8AC3E}">
        <p14:creationId xmlns:p14="http://schemas.microsoft.com/office/powerpoint/2010/main" val="25707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어떠한 문제를 해결하기 위한 여러 동작들의 모임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입력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출력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명확성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유한성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효율성을 가지고 있어야 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66"/>
          <a:stretch/>
        </p:blipFill>
        <p:spPr>
          <a:xfrm>
            <a:off x="1273436" y="1955602"/>
            <a:ext cx="1439789" cy="125453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4179"/>
          <a:stretch/>
        </p:blipFill>
        <p:spPr>
          <a:xfrm>
            <a:off x="3600281" y="1880916"/>
            <a:ext cx="1604657" cy="137714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314" y="1757952"/>
            <a:ext cx="1582963" cy="158296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01"/>
          <a:stretch/>
        </p:blipFill>
        <p:spPr>
          <a:xfrm>
            <a:off x="1816181" y="4302686"/>
            <a:ext cx="1942372" cy="153056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43" b="33694"/>
          <a:stretch/>
        </p:blipFill>
        <p:spPr>
          <a:xfrm>
            <a:off x="4651554" y="4437868"/>
            <a:ext cx="3020129" cy="1309629"/>
          </a:xfrm>
          <a:prstGeom prst="rect">
            <a:avLst/>
          </a:prstGeom>
        </p:spPr>
      </p:pic>
      <p:sp>
        <p:nvSpPr>
          <p:cNvPr id="14" name="TextBox 115"/>
          <p:cNvSpPr txBox="1"/>
          <p:nvPr/>
        </p:nvSpPr>
        <p:spPr>
          <a:xfrm>
            <a:off x="983393" y="3340915"/>
            <a:ext cx="2017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입력</a:t>
            </a: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외부에서 제공되는 자료가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0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개 이상 존재한다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5" name="TextBox 115"/>
          <p:cNvSpPr txBox="1"/>
          <p:nvPr/>
        </p:nvSpPr>
        <p:spPr>
          <a:xfrm>
            <a:off x="3393630" y="3346954"/>
            <a:ext cx="2017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출력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알고리즘은 최소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1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개 이상의 결과를 가진다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6" name="TextBox 115"/>
          <p:cNvSpPr txBox="1"/>
          <p:nvPr/>
        </p:nvSpPr>
        <p:spPr>
          <a:xfrm>
            <a:off x="5774816" y="3340915"/>
            <a:ext cx="201795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명확성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수행 과정은 명확하고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모호하지 않은 명령어로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구성되어야 한다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7" name="TextBox 115"/>
          <p:cNvSpPr txBox="1"/>
          <p:nvPr/>
        </p:nvSpPr>
        <p:spPr>
          <a:xfrm>
            <a:off x="1816181" y="5833252"/>
            <a:ext cx="2017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유한성</a:t>
            </a: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 유한 번의 명령어를 수행 후 시간 내에 종료한다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8" name="TextBox 115"/>
          <p:cNvSpPr txBox="1"/>
          <p:nvPr/>
        </p:nvSpPr>
        <p:spPr>
          <a:xfrm>
            <a:off x="5037309" y="5857966"/>
            <a:ext cx="2017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효율성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모든 과정은 명백하게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실행 가능한 것이어야 한다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.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183109" y="1955602"/>
            <a:ext cx="0" cy="24575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5613271" y="1955602"/>
            <a:ext cx="0" cy="24575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4407721" y="4395593"/>
            <a:ext cx="0" cy="23474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827595" y="4395593"/>
            <a:ext cx="70972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79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19890" y="2959372"/>
            <a:ext cx="2603157" cy="3122141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pPr algn="ctr"/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</p:txBody>
      </p:sp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같은 문자열을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출력할 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같은 명령을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내리는 것 대신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 err="1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반복문을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이용하면 더 짧고 간결한 소스를 짤 수 있다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5"/>
          <p:cNvSpPr txBox="1">
            <a:spLocks noChangeArrowheads="1"/>
          </p:cNvSpPr>
          <p:nvPr/>
        </p:nvSpPr>
        <p:spPr bwMode="auto">
          <a:xfrm>
            <a:off x="2858951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“</a:t>
            </a:r>
            <a:r>
              <a:rPr lang="ko-KR" alt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로보틱스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”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문자열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 10</a:t>
            </a: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번 출력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790334" y="4020044"/>
            <a:ext cx="17281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VS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585813" y="3472155"/>
            <a:ext cx="2590233" cy="1680555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</a:t>
            </a:r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for(</a:t>
            </a:r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=0;i&lt;10;i++)</a:t>
            </a:r>
          </a:p>
          <a:p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{</a:t>
            </a:r>
          </a:p>
          <a:p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</a:t>
            </a:r>
            <a:r>
              <a:rPr lang="en-US" altLang="ko-KR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printf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</a:t>
            </a:r>
            <a:r>
              <a:rPr lang="ko-KR" altLang="en-US" dirty="0" err="1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로보틱스</a:t>
            </a:r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\n”);</a:t>
            </a:r>
          </a:p>
          <a:p>
            <a:r>
              <a:rPr lang="en-US" altLang="ko-KR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}</a:t>
            </a:r>
            <a:endParaRPr lang="ko-KR" altLang="en-US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57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/>
      <p:bldP spid="25" grpId="0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알고리즘의 복잡도는 크게 시간복잡도와 공간복잡도로 나뉘고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복잡도를 최소화 할수록 더 좋은 알고리즘이다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4028769" y="2780720"/>
            <a:ext cx="1512168" cy="1512168"/>
            <a:chOff x="2267744" y="2700209"/>
            <a:chExt cx="1512168" cy="1512168"/>
          </a:xfrm>
        </p:grpSpPr>
        <p:sp>
          <p:nvSpPr>
            <p:cNvPr id="11" name="타원 10"/>
            <p:cNvSpPr/>
            <p:nvPr/>
          </p:nvSpPr>
          <p:spPr>
            <a:xfrm>
              <a:off x="2267744" y="2700209"/>
              <a:ext cx="1512168" cy="1512168"/>
            </a:xfrm>
            <a:prstGeom prst="ellipse">
              <a:avLst/>
            </a:prstGeom>
            <a:solidFill>
              <a:srgbClr val="FF6E57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25"/>
            <p:cNvSpPr txBox="1">
              <a:spLocks noChangeArrowheads="1"/>
            </p:cNvSpPr>
            <p:nvPr/>
          </p:nvSpPr>
          <p:spPr bwMode="auto">
            <a:xfrm>
              <a:off x="2267744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시간복잡도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688550" y="4646141"/>
            <a:ext cx="8364838" cy="1631216"/>
            <a:chOff x="688550" y="4646141"/>
            <a:chExt cx="8364838" cy="1631216"/>
          </a:xfrm>
        </p:grpSpPr>
        <p:sp>
          <p:nvSpPr>
            <p:cNvPr id="15" name="TextBox 14"/>
            <p:cNvSpPr txBox="1"/>
            <p:nvPr/>
          </p:nvSpPr>
          <p:spPr>
            <a:xfrm>
              <a:off x="1861750" y="4646141"/>
              <a:ext cx="6367849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알고리즘 패턴을 통해 대략적인 시간을 고려</a:t>
              </a:r>
              <a:r>
                <a:rPr lang="en-US" altLang="ko-KR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.</a:t>
              </a:r>
            </a:p>
            <a:p>
              <a:pPr algn="ctr"/>
              <a:endParaRPr lang="en-US" altLang="ko-KR" sz="1000" dirty="0">
                <a:solidFill>
                  <a:srgbClr val="FF505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  <a:p>
              <a:pPr algn="ctr"/>
              <a:r>
                <a:rPr lang="en-US" altLang="ko-KR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Big O notation</a:t>
              </a:r>
              <a:r>
                <a:rPr lang="ko-KR" altLang="en-US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을 이용하여 나타냄</a:t>
              </a:r>
              <a:r>
                <a:rPr lang="en-US" altLang="ko-KR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.</a:t>
              </a:r>
            </a:p>
            <a:p>
              <a:pPr algn="ctr"/>
              <a:r>
                <a:rPr lang="pt-BR" altLang="ko-KR" dirty="0">
                  <a:solidFill>
                    <a:srgbClr val="FF505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  </a:t>
              </a:r>
              <a:endParaRPr lang="en-US" altLang="ko-KR" dirty="0">
                <a:solidFill>
                  <a:srgbClr val="FF505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  <a:p>
              <a:pPr algn="ctr"/>
              <a:endParaRPr lang="en-US" altLang="ko-KR" dirty="0">
                <a:solidFill>
                  <a:srgbClr val="FF505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  <a:p>
              <a:pPr algn="ctr"/>
              <a:endParaRPr lang="ko-KR" altLang="en-US" dirty="0">
                <a:solidFill>
                  <a:srgbClr val="FF505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왼쪽/오른쪽 화살표 16"/>
                <p:cNvSpPr/>
                <p:nvPr/>
              </p:nvSpPr>
              <p:spPr>
                <a:xfrm>
                  <a:off x="1619426" y="5461749"/>
                  <a:ext cx="6503086" cy="667265"/>
                </a:xfrm>
                <a:prstGeom prst="leftRightArrow">
                  <a:avLst>
                    <a:gd name="adj1" fmla="val 50000"/>
                    <a:gd name="adj2" fmla="val 96914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O(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1</m:t>
                      </m:r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e>
                      </m:func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r>
                        <a:rPr lang="en-US" altLang="ko-KR" i="1" dirty="0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𝑛</m:t>
                      </m:r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r>
                        <a:rPr lang="en-US" altLang="ko-KR" i="1" dirty="0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𝑛</m:t>
                      </m:r>
                      <m:func>
                        <m:func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dirty="0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  <a:ea typeface="1훈새마을운동 R" panose="02020603020101020101" pitchFamily="18" charset="-127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e>
                      </m:func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s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e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s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e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</m:ctrlPr>
                        </m:s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2</m:t>
                          </m:r>
                        </m:e>
                        <m:sup>
                          <m:r>
                            <a:rPr lang="en-US" altLang="ko-KR" i="1" dirty="0">
                              <a:latin typeface="Cambria Math" panose="02040503050406030204" pitchFamily="18" charset="0"/>
                              <a:ea typeface="1훈새마을운동 R" panose="02020603020101020101" pitchFamily="18" charset="-127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)&lt;O(</a:t>
                  </a:r>
                  <a14:m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𝑛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1훈새마을운동 R" panose="02020603020101020101" pitchFamily="18" charset="-127"/>
                        </a:rPr>
                        <m:t>!</m:t>
                      </m:r>
                    </m:oMath>
                  </a14:m>
                  <a:r>
                    <a:rPr lang="pt-BR" altLang="ko-KR" dirty="0">
                      <a:latin typeface="1훈새마을운동 R" panose="02020603020101020101" pitchFamily="18" charset="-127"/>
                      <a:ea typeface="1훈새마을운동 R" panose="02020603020101020101" pitchFamily="18" charset="-127"/>
                    </a:rPr>
                    <a:t>)</a:t>
                  </a:r>
                  <a:endPara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endParaRPr>
                </a:p>
              </p:txBody>
            </p:sp>
          </mc:Choice>
          <mc:Fallback xmlns="">
            <p:sp>
              <p:nvSpPr>
                <p:cNvPr id="17" name="왼쪽/오른쪽 화살표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426" y="5461749"/>
                  <a:ext cx="6503086" cy="667265"/>
                </a:xfrm>
                <a:prstGeom prst="leftRightArrow">
                  <a:avLst>
                    <a:gd name="adj1" fmla="val 50000"/>
                    <a:gd name="adj2" fmla="val 96914"/>
                  </a:avLst>
                </a:prstGeom>
                <a:blipFill rotWithShape="0"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/>
            <p:cNvSpPr txBox="1"/>
            <p:nvPr/>
          </p:nvSpPr>
          <p:spPr>
            <a:xfrm>
              <a:off x="688550" y="5610715"/>
              <a:ext cx="930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>
                  <a:solidFill>
                    <a:srgbClr val="FF000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빠름빠름</a:t>
              </a:r>
              <a:endParaRPr lang="ko-KR" altLang="en-US" dirty="0">
                <a:solidFill>
                  <a:srgbClr val="FF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122512" y="5610715"/>
              <a:ext cx="930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>
                  <a:solidFill>
                    <a:srgbClr val="0070C0"/>
                  </a:solidFill>
                  <a:latin typeface="1훈새마을운동 R" panose="02020603020101020101" pitchFamily="18" charset="-127"/>
                  <a:ea typeface="1훈새마을운동 R" panose="02020603020101020101" pitchFamily="18" charset="-127"/>
                </a:rPr>
                <a:t>극혐</a:t>
              </a:r>
              <a:endParaRPr lang="ko-KR" altLang="en-US" dirty="0">
                <a:solidFill>
                  <a:srgbClr val="0070C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endParaRPr>
            </a:p>
          </p:txBody>
        </p:sp>
      </p:grpSp>
      <p:sp>
        <p:nvSpPr>
          <p:cNvPr id="28" name="TextBox 25"/>
          <p:cNvSpPr txBox="1">
            <a:spLocks noChangeArrowheads="1"/>
          </p:cNvSpPr>
          <p:nvPr/>
        </p:nvSpPr>
        <p:spPr bwMode="auto">
          <a:xfrm>
            <a:off x="3056661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</p:spTree>
    <p:extLst>
      <p:ext uri="{BB962C8B-B14F-4D97-AF65-F5344CB8AC3E}">
        <p14:creationId xmlns:p14="http://schemas.microsoft.com/office/powerpoint/2010/main" val="345095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7.40741E-7 L 0.18889 0.0004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알고리즘의 복잡도는 크게 시간복잡도와 공간복잡도로 나뉘고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복잡도를 최소화 할수록 더 좋은 알고리즘이다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4028769" y="2782622"/>
            <a:ext cx="1512168" cy="1512168"/>
            <a:chOff x="5321102" y="2700209"/>
            <a:chExt cx="1512168" cy="1512168"/>
          </a:xfrm>
        </p:grpSpPr>
        <p:sp>
          <p:nvSpPr>
            <p:cNvPr id="13" name="타원 12"/>
            <p:cNvSpPr/>
            <p:nvPr/>
          </p:nvSpPr>
          <p:spPr>
            <a:xfrm>
              <a:off x="5321102" y="2700209"/>
              <a:ext cx="1512168" cy="1512168"/>
            </a:xfrm>
            <a:prstGeom prst="ellipse">
              <a:avLst/>
            </a:prstGeom>
            <a:solidFill>
              <a:schemeClr val="accent5">
                <a:lumMod val="5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4" name="TextBox 25"/>
            <p:cNvSpPr txBox="1">
              <a:spLocks noChangeArrowheads="1"/>
            </p:cNvSpPr>
            <p:nvPr/>
          </p:nvSpPr>
          <p:spPr bwMode="auto">
            <a:xfrm>
              <a:off x="5321102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공간복잡도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580236" y="4649946"/>
            <a:ext cx="65814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공간의 낭비를 최소화 하여 메모리 절약</a:t>
            </a:r>
            <a:endParaRPr lang="en-US" altLang="ko-KR" dirty="0">
              <a:solidFill>
                <a:schemeClr val="accent5">
                  <a:lumMod val="50000"/>
                </a:schemeClr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  <a:p>
            <a:pPr algn="ctr"/>
            <a:endParaRPr lang="en-US" altLang="ko-KR" sz="800" dirty="0">
              <a:solidFill>
                <a:schemeClr val="accent5">
                  <a:lumMod val="50000"/>
                </a:schemeClr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  <a:p>
            <a:pPr algn="ctr"/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분할정복 알고리즘과 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DP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알고리즘에서 중요</a:t>
            </a:r>
            <a:endParaRPr lang="en-US" altLang="ko-KR" dirty="0">
              <a:solidFill>
                <a:schemeClr val="accent5">
                  <a:lumMod val="50000"/>
                </a:schemeClr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  <a:p>
            <a:pPr algn="ctr"/>
            <a:endParaRPr lang="en-US" altLang="ko-KR" sz="800" dirty="0">
              <a:solidFill>
                <a:schemeClr val="accent5">
                  <a:lumMod val="50000"/>
                </a:schemeClr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  <a:p>
            <a:pPr algn="ctr"/>
            <a:r>
              <a:rPr lang="en-US" altLang="ko-KR" dirty="0" err="1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Malloc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함수를 이용하여 포인터에 동적 할당된 메모리를 배열처럼 사용가능</a:t>
            </a:r>
          </a:p>
        </p:txBody>
      </p:sp>
      <p:sp>
        <p:nvSpPr>
          <p:cNvPr id="28" name="TextBox 25"/>
          <p:cNvSpPr txBox="1">
            <a:spLocks noChangeArrowheads="1"/>
          </p:cNvSpPr>
          <p:nvPr/>
        </p:nvSpPr>
        <p:spPr bwMode="auto">
          <a:xfrm>
            <a:off x="3056661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</p:spTree>
    <p:extLst>
      <p:ext uri="{BB962C8B-B14F-4D97-AF65-F5344CB8AC3E}">
        <p14:creationId xmlns:p14="http://schemas.microsoft.com/office/powerpoint/2010/main" val="119149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22222E-6 L -0.15659 0.00417 " pathEditMode="relative" rAng="0" ptsTypes="AA">
                                      <p:cBhvr>
                                        <p:cTn id="2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20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본격적인 정렬알고리즘 설명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화면에 사용된 애니메이션은 버블정렬을 이용한 정렬이다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3099394" y="202842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정렬알고리즘</a:t>
            </a:r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?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5334325" y="2997620"/>
            <a:ext cx="3012025" cy="2529016"/>
            <a:chOff x="3099709" y="2997624"/>
            <a:chExt cx="3012025" cy="2529016"/>
          </a:xfrm>
        </p:grpSpPr>
        <p:sp>
          <p:nvSpPr>
            <p:cNvPr id="30" name="직사각형 29"/>
            <p:cNvSpPr/>
            <p:nvPr/>
          </p:nvSpPr>
          <p:spPr>
            <a:xfrm>
              <a:off x="4697848" y="3417753"/>
              <a:ext cx="614817" cy="2108887"/>
            </a:xfrm>
            <a:prstGeom prst="rect">
              <a:avLst/>
            </a:prstGeom>
            <a:solidFill>
              <a:schemeClr val="accent5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099709" y="4949988"/>
              <a:ext cx="614817" cy="576648"/>
            </a:xfrm>
            <a:prstGeom prst="rect">
              <a:avLst/>
            </a:prstGeom>
            <a:solidFill>
              <a:schemeClr val="accent5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496917" y="2997624"/>
              <a:ext cx="614817" cy="2529015"/>
            </a:xfrm>
            <a:prstGeom prst="rect">
              <a:avLst/>
            </a:prstGeom>
            <a:solidFill>
              <a:schemeClr val="accent5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898778" y="3854360"/>
              <a:ext cx="614817" cy="1672278"/>
            </a:xfrm>
            <a:prstGeom prst="rect">
              <a:avLst/>
            </a:prstGeom>
            <a:solidFill>
              <a:schemeClr val="accent5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TextBox 25"/>
          <p:cNvSpPr txBox="1">
            <a:spLocks noChangeArrowheads="1"/>
          </p:cNvSpPr>
          <p:nvPr/>
        </p:nvSpPr>
        <p:spPr bwMode="auto">
          <a:xfrm>
            <a:off x="791418" y="566047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Before</a:t>
            </a:r>
          </a:p>
        </p:txBody>
      </p:sp>
      <p:sp>
        <p:nvSpPr>
          <p:cNvPr id="35" name="TextBox 25"/>
          <p:cNvSpPr txBox="1">
            <a:spLocks noChangeArrowheads="1"/>
          </p:cNvSpPr>
          <p:nvPr/>
        </p:nvSpPr>
        <p:spPr bwMode="auto">
          <a:xfrm>
            <a:off x="5112146" y="566047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accent5">
                    <a:lumMod val="50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After</a:t>
            </a:r>
          </a:p>
        </p:txBody>
      </p:sp>
      <p:cxnSp>
        <p:nvCxnSpPr>
          <p:cNvPr id="36" name="직선 연결선 35"/>
          <p:cNvCxnSpPr/>
          <p:nvPr/>
        </p:nvCxnSpPr>
        <p:spPr>
          <a:xfrm>
            <a:off x="4558828" y="2682519"/>
            <a:ext cx="0" cy="37018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988683" y="3417751"/>
            <a:ext cx="614817" cy="21088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787753" y="4949990"/>
            <a:ext cx="614817" cy="5766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2586823" y="2997622"/>
            <a:ext cx="614817" cy="25290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3385893" y="3854358"/>
            <a:ext cx="614817" cy="167227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56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3.7037E-6 L 0.23889 -0.00139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44" y="-6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4" grpId="0"/>
      <p:bldP spid="35" grpId="0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(Algorithm)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25"/>
              <p:cNvSpPr txBox="1">
                <a:spLocks noChangeArrowheads="1"/>
              </p:cNvSpPr>
              <p:nvPr/>
            </p:nvSpPr>
            <p:spPr bwMode="auto">
              <a:xfrm>
                <a:off x="935682" y="919654"/>
                <a:ext cx="4176464" cy="528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anchor="t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ts val="1700"/>
                  </a:lnSpc>
                </a:pPr>
                <a:r>
                  <a:rPr lang="ko-KR" altLang="en-US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정렬알고리즘의 종류와</a:t>
                </a:r>
                <a:r>
                  <a:rPr lang="en-US" altLang="ko-KR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 </a:t>
                </a:r>
                <a:r>
                  <a:rPr lang="ko-KR" altLang="en-US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시간복잡도</a:t>
                </a:r>
                <a:endParaRPr lang="en-US" altLang="ko-KR" sz="1050" dirty="0">
                  <a:solidFill>
                    <a:schemeClr val="accent5">
                      <a:lumMod val="50000"/>
                    </a:schemeClr>
                  </a:solidFill>
                  <a:latin typeface="나눔바른고딕" pitchFamily="50" charset="-127"/>
                  <a:ea typeface="나눔바른고딕" pitchFamily="50" charset="-127"/>
                </a:endParaRPr>
              </a:p>
              <a:p>
                <a:pPr marL="342900" indent="-342900">
                  <a:lnSpc>
                    <a:spcPts val="1700"/>
                  </a:lnSpc>
                </a:pPr>
                <a:r>
                  <a:rPr lang="ko-KR" altLang="en-US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이번  세미나에서는 </a:t>
                </a:r>
                <a:r>
                  <a:rPr lang="en-US" altLang="ko-KR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5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나눔바른고딕" pitchFamily="50" charset="-127"/>
                          </a:rPr>
                        </m:ctrlPr>
                      </m:sSupPr>
                      <m:e>
                        <m:r>
                          <a:rPr lang="en-US" altLang="ko-KR" sz="105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나눔바른고딕" pitchFamily="50" charset="-127"/>
                          </a:rPr>
                          <m:t>𝑛</m:t>
                        </m:r>
                      </m:e>
                      <m:sup>
                        <m:r>
                          <a:rPr lang="en-US" altLang="ko-KR" sz="105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나눔바른고딕" pitchFamily="50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)</a:t>
                </a:r>
                <a:r>
                  <a:rPr lang="ko-KR" altLang="en-US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시간복잡도의 정렬을 설명한다</a:t>
                </a:r>
                <a:r>
                  <a:rPr lang="en-US" altLang="ko-KR" sz="1050" dirty="0">
                    <a:solidFill>
                      <a:schemeClr val="accent5">
                        <a:lumMod val="50000"/>
                      </a:schemeClr>
                    </a:solidFill>
                    <a:latin typeface="나눔바른고딕" pitchFamily="50" charset="-127"/>
                    <a:ea typeface="나눔바른고딕" pitchFamily="50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5682" y="919654"/>
                <a:ext cx="4176464" cy="528350"/>
              </a:xfrm>
              <a:prstGeom prst="rect">
                <a:avLst/>
              </a:prstGeom>
              <a:blipFill rotWithShape="0">
                <a:blip r:embed="rId2"/>
                <a:stretch>
                  <a:fillRect b="-344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1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25"/>
              <p:cNvSpPr txBox="1">
                <a:spLocks noChangeArrowheads="1"/>
              </p:cNvSpPr>
              <p:nvPr/>
            </p:nvSpPr>
            <p:spPr bwMode="auto">
              <a:xfrm>
                <a:off x="2821284" y="4605937"/>
                <a:ext cx="345638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en-US" altLang="ko-KR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배달의민족 한나" pitchFamily="2" charset="-127"/>
                    <a:ea typeface="배달의민족 한나" pitchFamily="2" charset="-127"/>
                  </a:rPr>
                  <a:t>O(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배달의민족 한나" pitchFamily="2" charset="-127"/>
                      </a:rPr>
                      <m:t>𝑛</m:t>
                    </m:r>
                    <m:func>
                      <m:funcPr>
                        <m:ctrlPr>
                          <a:rPr lang="en-US" altLang="ko-KR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배달의민족 한나" pitchFamily="2" charset="-127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24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배달의민족 한나" pitchFamily="2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배달의민족 한나" pitchFamily="2" charset="-127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배달의민족 한나" pitchFamily="2" charset="-127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ko-KR" sz="2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배달의민족 한나" pitchFamily="2" charset="-127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ko-KR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배달의민족 한나" pitchFamily="2" charset="-127"/>
                    <a:ea typeface="배달의민족 한나" pitchFamily="2" charset="-127"/>
                  </a:rPr>
                  <a:t>) </a:t>
                </a:r>
                <a:r>
                  <a:rPr lang="ko-KR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배달의민족 한나" pitchFamily="2" charset="-127"/>
                    <a:ea typeface="배달의민족 한나" pitchFamily="2" charset="-127"/>
                  </a:rPr>
                  <a:t>정렬</a:t>
                </a:r>
                <a:endParaRPr lang="en-US" altLang="ko-KR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배달의민족 한나" pitchFamily="2" charset="-127"/>
                  <a:ea typeface="배달의민족 한나" pitchFamily="2" charset="-127"/>
                </a:endParaRPr>
              </a:p>
            </p:txBody>
          </p:sp>
        </mc:Choice>
        <mc:Fallback xmlns="">
          <p:sp>
            <p:nvSpPr>
              <p:cNvPr id="43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1284" y="4605937"/>
                <a:ext cx="3456384" cy="461665"/>
              </a:xfrm>
              <a:prstGeom prst="rect">
                <a:avLst/>
              </a:prstGeom>
              <a:blipFill rotWithShape="0">
                <a:blip r:embed="rId3"/>
                <a:stretch>
                  <a:fillRect t="-10667" b="-30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타원 43"/>
          <p:cNvSpPr/>
          <p:nvPr/>
        </p:nvSpPr>
        <p:spPr>
          <a:xfrm>
            <a:off x="1511746" y="5124509"/>
            <a:ext cx="1512168" cy="1512168"/>
          </a:xfrm>
          <a:prstGeom prst="ellipse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타원 44"/>
          <p:cNvSpPr/>
          <p:nvPr/>
        </p:nvSpPr>
        <p:spPr>
          <a:xfrm>
            <a:off x="6075038" y="5069909"/>
            <a:ext cx="1512168" cy="1512168"/>
          </a:xfrm>
          <a:prstGeom prst="ellipse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1511746" y="2133432"/>
            <a:ext cx="6075460" cy="2046733"/>
            <a:chOff x="1511746" y="2133432"/>
            <a:chExt cx="6075460" cy="2046733"/>
          </a:xfrm>
        </p:grpSpPr>
        <p:grpSp>
          <p:nvGrpSpPr>
            <p:cNvPr id="27" name="그룹 26"/>
            <p:cNvGrpSpPr/>
            <p:nvPr/>
          </p:nvGrpSpPr>
          <p:grpSpPr>
            <a:xfrm>
              <a:off x="1511746" y="2630540"/>
              <a:ext cx="6075460" cy="1549625"/>
              <a:chOff x="2267744" y="2700209"/>
              <a:chExt cx="6075460" cy="1549625"/>
            </a:xfrm>
          </p:grpSpPr>
          <p:sp>
            <p:nvSpPr>
              <p:cNvPr id="37" name="타원 36"/>
              <p:cNvSpPr/>
              <p:nvPr/>
            </p:nvSpPr>
            <p:spPr>
              <a:xfrm>
                <a:off x="2267744" y="2700209"/>
                <a:ext cx="1512168" cy="1512168"/>
              </a:xfrm>
              <a:prstGeom prst="ellipse">
                <a:avLst/>
              </a:prstGeom>
              <a:solidFill>
                <a:srgbClr val="FF6E57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TextBox 25"/>
              <p:cNvSpPr txBox="1">
                <a:spLocks noChangeArrowheads="1"/>
              </p:cNvSpPr>
              <p:nvPr/>
            </p:nvSpPr>
            <p:spPr bwMode="auto">
              <a:xfrm>
                <a:off x="2267744" y="3293695"/>
                <a:ext cx="151216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ko-KR" altLang="en-US" sz="2000" dirty="0">
                    <a:solidFill>
                      <a:schemeClr val="bg1"/>
                    </a:solidFill>
                    <a:latin typeface="배달의민족 한나" pitchFamily="2" charset="-127"/>
                    <a:ea typeface="배달의민족 한나" pitchFamily="2" charset="-127"/>
                  </a:rPr>
                  <a:t>버블정렬</a:t>
                </a:r>
                <a:endParaRPr lang="en-US" altLang="ko-KR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endParaRPr>
              </a:p>
            </p:txBody>
          </p:sp>
          <p:sp>
            <p:nvSpPr>
              <p:cNvPr id="39" name="타원 38"/>
              <p:cNvSpPr/>
              <p:nvPr/>
            </p:nvSpPr>
            <p:spPr>
              <a:xfrm>
                <a:off x="4549390" y="2737666"/>
                <a:ext cx="1512168" cy="1512168"/>
              </a:xfrm>
              <a:prstGeom prst="ellipse">
                <a:avLst/>
              </a:prstGeom>
              <a:solidFill>
                <a:schemeClr val="accent5">
                  <a:lumMod val="75000"/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0" name="타원 39"/>
              <p:cNvSpPr/>
              <p:nvPr/>
            </p:nvSpPr>
            <p:spPr>
              <a:xfrm>
                <a:off x="6831036" y="2737666"/>
                <a:ext cx="1512168" cy="1512168"/>
              </a:xfrm>
              <a:prstGeom prst="ellipse">
                <a:avLst/>
              </a:prstGeom>
              <a:solidFill>
                <a:srgbClr val="7030A0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TextBox 25"/>
              <p:cNvSpPr txBox="1">
                <a:spLocks noChangeArrowheads="1"/>
              </p:cNvSpPr>
              <p:nvPr/>
            </p:nvSpPr>
            <p:spPr bwMode="auto">
              <a:xfrm>
                <a:off x="4549390" y="3293695"/>
                <a:ext cx="151216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ko-KR" altLang="en-US" sz="2000" dirty="0">
                    <a:solidFill>
                      <a:schemeClr val="bg1"/>
                    </a:solidFill>
                    <a:latin typeface="배달의민족 한나" pitchFamily="2" charset="-127"/>
                    <a:ea typeface="배달의민족 한나" pitchFamily="2" charset="-127"/>
                  </a:rPr>
                  <a:t>선택정렬</a:t>
                </a:r>
                <a:endParaRPr lang="en-US" altLang="ko-KR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endParaRPr>
              </a:p>
            </p:txBody>
          </p:sp>
          <p:sp>
            <p:nvSpPr>
              <p:cNvPr id="42" name="TextBox 25"/>
              <p:cNvSpPr txBox="1">
                <a:spLocks noChangeArrowheads="1"/>
              </p:cNvSpPr>
              <p:nvPr/>
            </p:nvSpPr>
            <p:spPr bwMode="auto">
              <a:xfrm>
                <a:off x="6831036" y="3293695"/>
                <a:ext cx="151216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/>
                <a:r>
                  <a:rPr lang="ko-KR" altLang="en-US" sz="2000" dirty="0">
                    <a:solidFill>
                      <a:schemeClr val="bg1"/>
                    </a:solidFill>
                    <a:latin typeface="배달의민족 한나" pitchFamily="2" charset="-127"/>
                    <a:ea typeface="배달의민족 한나" pitchFamily="2" charset="-127"/>
                  </a:rPr>
                  <a:t>삽입정렬</a:t>
                </a:r>
                <a:endParaRPr lang="en-US" altLang="ko-KR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25"/>
                <p:cNvSpPr txBox="1">
                  <a:spLocks noChangeArrowheads="1"/>
                </p:cNvSpPr>
                <p:nvPr/>
              </p:nvSpPr>
              <p:spPr bwMode="auto">
                <a:xfrm>
                  <a:off x="2915902" y="2133432"/>
                  <a:ext cx="3456384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marL="342900" indent="-342900" algn="ctr"/>
                  <a:r>
                    <a:rPr lang="en-US" altLang="ko-KR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배달의민족 한나" pitchFamily="2" charset="-127"/>
                      <a:ea typeface="배달의민족 한나" pitchFamily="2" charset="-127"/>
                    </a:rPr>
                    <a:t>O(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배달의민족 한나" pitchFamily="2" charset="-127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배달의민족 한나" pitchFamily="2" charset="-127"/>
                            </a:rPr>
                            <m:t>𝑛</m:t>
                          </m:r>
                        </m:e>
                        <m:sup>
                          <m:r>
                            <a:rPr lang="en-US" altLang="ko-KR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배달의민족 한나" pitchFamily="2" charset="-127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배달의민족 한나" pitchFamily="2" charset="-127"/>
                      <a:ea typeface="배달의민족 한나" pitchFamily="2" charset="-127"/>
                    </a:rPr>
                    <a:t>) </a:t>
                  </a:r>
                  <a:r>
                    <a:rPr lang="ko-KR" altLang="en-US" sz="24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배달의민족 한나" pitchFamily="2" charset="-127"/>
                      <a:ea typeface="배달의민족 한나" pitchFamily="2" charset="-127"/>
                    </a:rPr>
                    <a:t>정렬</a:t>
                  </a:r>
                  <a:endParaRPr lang="en-US" altLang="ko-KR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배달의민족 한나" pitchFamily="2" charset="-127"/>
                    <a:ea typeface="배달의민족 한나" pitchFamily="2" charset="-127"/>
                  </a:endParaRPr>
                </a:p>
              </p:txBody>
            </p:sp>
          </mc:Choice>
          <mc:Fallback xmlns="">
            <p:sp>
              <p:nvSpPr>
                <p:cNvPr id="4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15902" y="2133432"/>
                  <a:ext cx="3456384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10526" b="-2894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타원 46"/>
          <p:cNvSpPr/>
          <p:nvPr/>
        </p:nvSpPr>
        <p:spPr>
          <a:xfrm>
            <a:off x="3793392" y="5124509"/>
            <a:ext cx="1512168" cy="1512168"/>
          </a:xfrm>
          <a:prstGeom prst="ellipse">
            <a:avLst/>
          </a:prstGeom>
          <a:solidFill>
            <a:schemeClr val="tx1">
              <a:lumMod val="95000"/>
              <a:lumOff val="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25"/>
          <p:cNvSpPr txBox="1">
            <a:spLocks noChangeArrowheads="1"/>
          </p:cNvSpPr>
          <p:nvPr/>
        </p:nvSpPr>
        <p:spPr bwMode="auto">
          <a:xfrm>
            <a:off x="1511746" y="5690214"/>
            <a:ext cx="15121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합병정렬</a:t>
            </a:r>
            <a:endParaRPr lang="en-US" altLang="ko-KR" sz="2000" dirty="0">
              <a:solidFill>
                <a:schemeClr val="bg1"/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49" name="TextBox 25"/>
          <p:cNvSpPr txBox="1">
            <a:spLocks noChangeArrowheads="1"/>
          </p:cNvSpPr>
          <p:nvPr/>
        </p:nvSpPr>
        <p:spPr bwMode="auto">
          <a:xfrm>
            <a:off x="6075038" y="5690214"/>
            <a:ext cx="15121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000" dirty="0" err="1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퀵정렬</a:t>
            </a:r>
            <a:endParaRPr lang="en-US" altLang="ko-KR" sz="2000" dirty="0">
              <a:solidFill>
                <a:schemeClr val="bg1"/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0" name="TextBox 25"/>
          <p:cNvSpPr txBox="1">
            <a:spLocks noChangeArrowheads="1"/>
          </p:cNvSpPr>
          <p:nvPr/>
        </p:nvSpPr>
        <p:spPr bwMode="auto">
          <a:xfrm>
            <a:off x="3793392" y="5690214"/>
            <a:ext cx="15121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000" dirty="0" err="1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rPr>
              <a:t>힙정렬</a:t>
            </a:r>
            <a:endParaRPr lang="en-US" altLang="ko-KR" sz="2000" dirty="0">
              <a:solidFill>
                <a:schemeClr val="bg1"/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31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81481E-6 L -0.00018 0.09606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  <p:bldP spid="44" grpId="0" animBg="1"/>
      <p:bldP spid="44" grpId="1" animBg="1"/>
      <p:bldP spid="45" grpId="0" animBg="1"/>
      <p:bldP spid="45" grpId="1" animBg="1"/>
      <p:bldP spid="47" grpId="0" animBg="1"/>
      <p:bldP spid="47" grpId="1" animBg="1"/>
      <p:bldP spid="48" grpId="0"/>
      <p:bldP spid="48" grpId="1"/>
      <p:bldP spid="49" grpId="0"/>
      <p:bldP spid="49" grpId="1"/>
      <p:bldP spid="50" grpId="0"/>
      <p:bldP spid="5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5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</p:spTree>
    <p:extLst>
      <p:ext uri="{BB962C8B-B14F-4D97-AF65-F5344CB8AC3E}">
        <p14:creationId xmlns:p14="http://schemas.microsoft.com/office/powerpoint/2010/main" val="393655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 animBg="1"/>
      <p:bldP spid="22" grpId="0" animBg="1"/>
      <p:bldP spid="23" grpId="0" animBg="1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5239355" y="193184"/>
            <a:ext cx="3765308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void swap(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*cmp1, 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*cmp2)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{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	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tmp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	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tmp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=*cmp1;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	*cmp1=*cmp2;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	*cmp2=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tmp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pPr marL="342900" indent="-342900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897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419437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15971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4034415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16833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990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990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15971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4034415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3422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61598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5480042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3528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61598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5480042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3077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79852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691696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141713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79852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691696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09146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691696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</p:spTree>
    <p:extLst>
      <p:ext uri="{BB962C8B-B14F-4D97-AF65-F5344CB8AC3E}">
        <p14:creationId xmlns:p14="http://schemas.microsoft.com/office/powerpoint/2010/main" val="20686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225147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2898556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4017000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1085020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2898556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4017000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186033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435289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547133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356329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435289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547133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274426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5807219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78175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321449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2899251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4017695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205483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2893114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4011558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38712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>
            <a:off x="4365975" y="2842118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36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rgbClr val="C00000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1487760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2606204" y="2888164"/>
            <a:ext cx="170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Index+1</a:t>
            </a:r>
          </a:p>
        </p:txBody>
      </p:sp>
    </p:spTree>
    <p:extLst>
      <p:ext uri="{BB962C8B-B14F-4D97-AF65-F5344CB8AC3E}">
        <p14:creationId xmlns:p14="http://schemas.microsoft.com/office/powerpoint/2010/main" val="403893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2923799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26276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3113664" y="4670266"/>
            <a:ext cx="32758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If(a[index]&gt;a[index+1])</a:t>
            </a: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2853687" y="5241476"/>
            <a:ext cx="37835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swap(&amp;a[index], &amp;a[index+1])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1432527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0907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/>
          <p:cNvGrpSpPr/>
          <p:nvPr/>
        </p:nvGrpSpPr>
        <p:grpSpPr>
          <a:xfrm>
            <a:off x="3979341" y="2738075"/>
            <a:ext cx="1512168" cy="1512168"/>
            <a:chOff x="2267744" y="2700209"/>
            <a:chExt cx="1512168" cy="1512168"/>
          </a:xfrm>
        </p:grpSpPr>
        <p:sp>
          <p:nvSpPr>
            <p:cNvPr id="28" name="타원 27"/>
            <p:cNvSpPr/>
            <p:nvPr/>
          </p:nvSpPr>
          <p:spPr>
            <a:xfrm>
              <a:off x="2267744" y="2700209"/>
              <a:ext cx="1512168" cy="1512168"/>
            </a:xfrm>
            <a:prstGeom prst="ellipse">
              <a:avLst/>
            </a:prstGeom>
            <a:solidFill>
              <a:srgbClr val="FF6E57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5"/>
            <p:cNvSpPr txBox="1">
              <a:spLocks noChangeArrowheads="1"/>
            </p:cNvSpPr>
            <p:nvPr/>
          </p:nvSpPr>
          <p:spPr bwMode="auto">
            <a:xfrm>
              <a:off x="2267744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시간복잡도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직사각형 9"/>
              <p:cNvSpPr/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평균 시간복잡도 </a:t>
                </a:r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𝑛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273" t="-10000" r="-1989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2737014" y="4560851"/>
          <a:ext cx="3782790" cy="11125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023114"/>
                <a:gridCol w="1309817"/>
                <a:gridCol w="1449859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최선의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최악의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비교횟수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교환횟수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TextBox 25"/>
          <p:cNvSpPr txBox="1">
            <a:spLocks noChangeArrowheads="1"/>
          </p:cNvSpPr>
          <p:nvPr/>
        </p:nvSpPr>
        <p:spPr bwMode="auto">
          <a:xfrm>
            <a:off x="3007233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</p:spTree>
    <p:extLst>
      <p:ext uri="{BB962C8B-B14F-4D97-AF65-F5344CB8AC3E}">
        <p14:creationId xmlns:p14="http://schemas.microsoft.com/office/powerpoint/2010/main" val="239362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7.40741E-7 L 0.18889 0.0004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3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버블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(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교환</a:t>
            </a:r>
            <a:r>
              <a:rPr lang="en-US" altLang="ko-KR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)</a:t>
            </a:r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씩 증가시키며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(index+1)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번째의 값을 비교하며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최대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n(n-1)/2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정렬한다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2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/>
          <p:cNvGrpSpPr/>
          <p:nvPr/>
        </p:nvGrpSpPr>
        <p:grpSpPr>
          <a:xfrm>
            <a:off x="3979341" y="2768248"/>
            <a:ext cx="1512168" cy="1512168"/>
            <a:chOff x="5321102" y="2700209"/>
            <a:chExt cx="1512168" cy="1512168"/>
          </a:xfrm>
        </p:grpSpPr>
        <p:sp>
          <p:nvSpPr>
            <p:cNvPr id="31" name="타원 30"/>
            <p:cNvSpPr/>
            <p:nvPr/>
          </p:nvSpPr>
          <p:spPr>
            <a:xfrm>
              <a:off x="5321102" y="2700209"/>
              <a:ext cx="1512168" cy="1512168"/>
            </a:xfrm>
            <a:prstGeom prst="ellipse">
              <a:avLst/>
            </a:prstGeom>
            <a:solidFill>
              <a:schemeClr val="accent5">
                <a:lumMod val="5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" name="TextBox 25"/>
            <p:cNvSpPr txBox="1">
              <a:spLocks noChangeArrowheads="1"/>
            </p:cNvSpPr>
            <p:nvPr/>
          </p:nvSpPr>
          <p:spPr bwMode="auto">
            <a:xfrm>
              <a:off x="5321102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공간복잡도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410618" y="4621197"/>
            <a:ext cx="268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데이터 </a:t>
            </a:r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-&gt; 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공간</a:t>
            </a:r>
            <a:endParaRPr lang="ko-KR" altLang="en-US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34" name="TextBox 25"/>
          <p:cNvSpPr txBox="1">
            <a:spLocks noChangeArrowheads="1"/>
          </p:cNvSpPr>
          <p:nvPr/>
        </p:nvSpPr>
        <p:spPr bwMode="auto">
          <a:xfrm>
            <a:off x="3007233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</p:spTree>
    <p:extLst>
      <p:ext uri="{BB962C8B-B14F-4D97-AF65-F5344CB8AC3E}">
        <p14:creationId xmlns:p14="http://schemas.microsoft.com/office/powerpoint/2010/main" val="72312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11111E-6 L -0.1566 0.00417 " pathEditMode="relative" rAng="0" ptsTypes="AA">
                                      <p:cBhvr>
                                        <p:cTn id="2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32527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1515817" y="4437063"/>
            <a:ext cx="6938993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52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 animBg="1"/>
      <p:bldP spid="22" grpId="0" animBg="1"/>
      <p:bldP spid="23" grpId="0" animBg="1"/>
      <p:bldP spid="24" grpId="0" animBg="1"/>
      <p:bldP spid="25" grpId="0"/>
      <p:bldP spid="13" grpId="0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FF505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32527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1515817" y="4437063"/>
            <a:ext cx="6938993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2921194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최소값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341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1432527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76096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29935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2929935" y="4437063"/>
            <a:ext cx="5524875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35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29935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2929935" y="4437063"/>
            <a:ext cx="5524875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7237020" y="288713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최소값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534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29935" y="2888164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12696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23016" y="2842118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4323016" y="4437063"/>
            <a:ext cx="4131794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92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23016" y="2842118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3" name="오른쪽 화살표 2"/>
          <p:cNvSpPr/>
          <p:nvPr/>
        </p:nvSpPr>
        <p:spPr>
          <a:xfrm>
            <a:off x="4323016" y="4437063"/>
            <a:ext cx="4131794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5813266" y="2847230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최소값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202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23016" y="2842118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69057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FF5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오른쪽 화살표 13"/>
          <p:cNvSpPr/>
          <p:nvPr/>
        </p:nvSpPr>
        <p:spPr>
          <a:xfrm>
            <a:off x="5813266" y="4437063"/>
            <a:ext cx="2641544" cy="466406"/>
          </a:xfrm>
          <a:prstGeom prst="rightArrow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5813266" y="2847230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84442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5813266" y="2847230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5813265" y="2439897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최소값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16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54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5" name="TextBox 25"/>
          <p:cNvSpPr txBox="1">
            <a:spLocks noChangeArrowheads="1"/>
          </p:cNvSpPr>
          <p:nvPr/>
        </p:nvSpPr>
        <p:spPr bwMode="auto">
          <a:xfrm>
            <a:off x="7237030" y="2893276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64854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3979341" y="2738075"/>
            <a:ext cx="1512168" cy="1512168"/>
            <a:chOff x="2267744" y="2700209"/>
            <a:chExt cx="1512168" cy="1512168"/>
          </a:xfrm>
        </p:grpSpPr>
        <p:sp>
          <p:nvSpPr>
            <p:cNvPr id="28" name="타원 27"/>
            <p:cNvSpPr/>
            <p:nvPr/>
          </p:nvSpPr>
          <p:spPr>
            <a:xfrm>
              <a:off x="2267744" y="2700209"/>
              <a:ext cx="1512168" cy="1512168"/>
            </a:xfrm>
            <a:prstGeom prst="ellipse">
              <a:avLst/>
            </a:prstGeom>
            <a:solidFill>
              <a:srgbClr val="FF6E57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5"/>
            <p:cNvSpPr txBox="1">
              <a:spLocks noChangeArrowheads="1"/>
            </p:cNvSpPr>
            <p:nvPr/>
          </p:nvSpPr>
          <p:spPr bwMode="auto">
            <a:xfrm>
              <a:off x="2267744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시간복잡도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직사각형 9"/>
              <p:cNvSpPr/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평균 시간복잡도 </a:t>
                </a:r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𝑛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273" t="-10000" r="-1989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2737014" y="4560851"/>
          <a:ext cx="3782790" cy="11125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023114"/>
                <a:gridCol w="1309817"/>
                <a:gridCol w="1449859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최선의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최악의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비교횟수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교환횟수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TextBox 25"/>
          <p:cNvSpPr txBox="1">
            <a:spLocks noChangeArrowheads="1"/>
          </p:cNvSpPr>
          <p:nvPr/>
        </p:nvSpPr>
        <p:spPr bwMode="auto">
          <a:xfrm>
            <a:off x="3007233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66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7.40741E-7 L 0.18889 0.0004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3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3979341" y="2768248"/>
            <a:ext cx="1512168" cy="1512168"/>
            <a:chOff x="5321102" y="2700209"/>
            <a:chExt cx="1512168" cy="1512168"/>
          </a:xfrm>
        </p:grpSpPr>
        <p:sp>
          <p:nvSpPr>
            <p:cNvPr id="31" name="타원 30"/>
            <p:cNvSpPr/>
            <p:nvPr/>
          </p:nvSpPr>
          <p:spPr>
            <a:xfrm>
              <a:off x="5321102" y="2700209"/>
              <a:ext cx="1512168" cy="1512168"/>
            </a:xfrm>
            <a:prstGeom prst="ellipse">
              <a:avLst/>
            </a:prstGeom>
            <a:solidFill>
              <a:schemeClr val="accent5">
                <a:lumMod val="5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" name="TextBox 25"/>
            <p:cNvSpPr txBox="1">
              <a:spLocks noChangeArrowheads="1"/>
            </p:cNvSpPr>
            <p:nvPr/>
          </p:nvSpPr>
          <p:spPr bwMode="auto">
            <a:xfrm>
              <a:off x="5321102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공간복잡도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410618" y="4621197"/>
            <a:ext cx="268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데이터 </a:t>
            </a:r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-&gt; 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공간</a:t>
            </a:r>
            <a:endParaRPr lang="ko-KR" altLang="en-US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34" name="TextBox 25"/>
          <p:cNvSpPr txBox="1">
            <a:spLocks noChangeArrowheads="1"/>
          </p:cNvSpPr>
          <p:nvPr/>
        </p:nvSpPr>
        <p:spPr bwMode="auto">
          <a:xfrm>
            <a:off x="3007233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선택정렬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기준으로 최소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찾고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최소값이 있다면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최소값과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교환한다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3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67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11111E-6 L -0.1566 0.00417 " pathEditMode="relative" rAng="0" ptsTypes="AA">
                                      <p:cBhvr>
                                        <p:cTn id="2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</p:spTree>
    <p:extLst>
      <p:ext uri="{BB962C8B-B14F-4D97-AF65-F5344CB8AC3E}">
        <p14:creationId xmlns:p14="http://schemas.microsoft.com/office/powerpoint/2010/main" val="362979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2394100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35505" y="1932435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867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2394100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2935505" y="1932435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12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215543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20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2301573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46996" y="179428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34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2301573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4346996" y="179428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10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384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2380517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8444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551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2380517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8444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817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749177" y="2380517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3" name="TextBox 25"/>
          <p:cNvSpPr txBox="1">
            <a:spLocks noChangeArrowheads="1"/>
          </p:cNvSpPr>
          <p:nvPr/>
        </p:nvSpPr>
        <p:spPr bwMode="auto">
          <a:xfrm>
            <a:off x="58444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080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chemeClr val="accent5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927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2380944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72456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37858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2380944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72456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78935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2380944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72456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28786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96922" y="2380944"/>
            <a:ext cx="1208966" cy="801189"/>
          </a:xfrm>
          <a:prstGeom prst="roundRect">
            <a:avLst/>
          </a:prstGeom>
          <a:solidFill>
            <a:srgbClr val="FF7C8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6" name="TextBox 25"/>
          <p:cNvSpPr txBox="1">
            <a:spLocks noChangeArrowheads="1"/>
          </p:cNvSpPr>
          <p:nvPr/>
        </p:nvSpPr>
        <p:spPr bwMode="auto">
          <a:xfrm>
            <a:off x="7245605" y="1919279"/>
            <a:ext cx="10453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89178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/>
          <p:cNvSpPr/>
          <p:nvPr/>
        </p:nvSpPr>
        <p:spPr>
          <a:xfrm>
            <a:off x="1405942" y="3413756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2853687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7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301432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43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524251" y="3583516"/>
            <a:ext cx="8816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altLang="ko-K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a[5]</a:t>
            </a:r>
          </a:p>
        </p:txBody>
      </p: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749177" y="3413328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80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7196922" y="3413755"/>
            <a:ext cx="1208966" cy="801189"/>
          </a:xfrm>
          <a:prstGeom prst="roundRect">
            <a:avLst/>
          </a:prstGeom>
          <a:solidFill>
            <a:srgbClr val="7030A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90</a:t>
            </a:r>
            <a:endParaRPr lang="ko-KR" altLang="en-US" sz="28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54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3979341" y="2738075"/>
            <a:ext cx="1512168" cy="1512168"/>
            <a:chOff x="2267744" y="2700209"/>
            <a:chExt cx="1512168" cy="1512168"/>
          </a:xfrm>
        </p:grpSpPr>
        <p:sp>
          <p:nvSpPr>
            <p:cNvPr id="28" name="타원 27"/>
            <p:cNvSpPr/>
            <p:nvPr/>
          </p:nvSpPr>
          <p:spPr>
            <a:xfrm>
              <a:off x="2267744" y="2700209"/>
              <a:ext cx="1512168" cy="1512168"/>
            </a:xfrm>
            <a:prstGeom prst="ellipse">
              <a:avLst/>
            </a:prstGeom>
            <a:solidFill>
              <a:srgbClr val="FF6E57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5"/>
            <p:cNvSpPr txBox="1">
              <a:spLocks noChangeArrowheads="1"/>
            </p:cNvSpPr>
            <p:nvPr/>
          </p:nvSpPr>
          <p:spPr bwMode="auto">
            <a:xfrm>
              <a:off x="2267744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시간복잡도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직사각형 9"/>
              <p:cNvSpPr/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평균 시간복잡도 </a:t>
                </a:r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𝑛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ea typeface="1훈새마을운동 R" panose="02020603020101020101" pitchFamily="18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1훈새마을운동 R" panose="02020603020101020101" pitchFamily="18" charset="-127"/>
                    <a:ea typeface="1훈새마을운동 R" panose="02020603020101020101" pitchFamily="18" charset="-127"/>
                  </a:rPr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288" y="5747512"/>
                <a:ext cx="2144241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273" t="-10000" r="-1989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2737014" y="4560851"/>
          <a:ext cx="3782790" cy="11125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023114"/>
                <a:gridCol w="1309817"/>
                <a:gridCol w="1449859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최선의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최악의 경우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비교횟수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교환횟수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1훈새마을운동 R" panose="02020603020101020101" pitchFamily="18" charset="-127"/>
                          <a:ea typeface="1훈새마을운동 R" panose="02020603020101020101" pitchFamily="18" charset="-127"/>
                        </a:rPr>
                        <a:t>N(N-1)/2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1훈새마을운동 R" panose="02020603020101020101" pitchFamily="18" charset="-127"/>
                        <a:ea typeface="1훈새마을운동 R" panose="02020603020101020101" pitchFamily="18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TextBox 25"/>
          <p:cNvSpPr txBox="1">
            <a:spLocks noChangeArrowheads="1"/>
          </p:cNvSpPr>
          <p:nvPr/>
        </p:nvSpPr>
        <p:spPr bwMode="auto">
          <a:xfrm>
            <a:off x="3007233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21" name="직선 연결선 20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7.40741E-7 L 0.18889 0.0004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3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3979341" y="2768248"/>
            <a:ext cx="1512168" cy="1512168"/>
            <a:chOff x="5321102" y="2700209"/>
            <a:chExt cx="1512168" cy="1512168"/>
          </a:xfrm>
        </p:grpSpPr>
        <p:sp>
          <p:nvSpPr>
            <p:cNvPr id="31" name="타원 30"/>
            <p:cNvSpPr/>
            <p:nvPr/>
          </p:nvSpPr>
          <p:spPr>
            <a:xfrm>
              <a:off x="5321102" y="2700209"/>
              <a:ext cx="1512168" cy="1512168"/>
            </a:xfrm>
            <a:prstGeom prst="ellipse">
              <a:avLst/>
            </a:prstGeom>
            <a:solidFill>
              <a:schemeClr val="accent5">
                <a:lumMod val="5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" name="TextBox 25"/>
            <p:cNvSpPr txBox="1">
              <a:spLocks noChangeArrowheads="1"/>
            </p:cNvSpPr>
            <p:nvPr/>
          </p:nvSpPr>
          <p:spPr bwMode="auto">
            <a:xfrm>
              <a:off x="5321102" y="3293695"/>
              <a:ext cx="15121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 algn="ctr"/>
              <a:r>
                <a:rPr lang="ko-KR" altLang="en-US" sz="2000" dirty="0">
                  <a:solidFill>
                    <a:schemeClr val="bg1"/>
                  </a:solidFill>
                  <a:latin typeface="배달의민족 한나" pitchFamily="2" charset="-127"/>
                  <a:ea typeface="배달의민족 한나" pitchFamily="2" charset="-127"/>
                </a:rPr>
                <a:t>공간복잡도</a:t>
              </a:r>
              <a:endParaRPr lang="en-US" altLang="ko-KR" sz="2000" dirty="0">
                <a:solidFill>
                  <a:schemeClr val="bg1"/>
                </a:solidFill>
                <a:latin typeface="배달의민족 한나" pitchFamily="2" charset="-127"/>
                <a:ea typeface="배달의민족 한나" pitchFamily="2" charset="-127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278660" y="4621197"/>
            <a:ext cx="284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N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데이터 </a:t>
            </a:r>
            <a:r>
              <a:rPr lang="en-US" altLang="ko-KR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-&gt; N+1</a:t>
            </a:r>
            <a:r>
              <a:rPr lang="ko-KR" altLang="en-US" dirty="0" smtClean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개의 공간</a:t>
            </a:r>
            <a:endParaRPr lang="ko-KR" altLang="en-US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  <p:sp>
        <p:nvSpPr>
          <p:cNvPr id="34" name="TextBox 25"/>
          <p:cNvSpPr txBox="1">
            <a:spLocks noChangeArrowheads="1"/>
          </p:cNvSpPr>
          <p:nvPr/>
        </p:nvSpPr>
        <p:spPr bwMode="auto">
          <a:xfrm>
            <a:off x="3007233" y="1965802"/>
            <a:ext cx="3456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알고리즘 복잡도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삽입정렬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4</a:t>
            </a:r>
          </a:p>
        </p:txBody>
      </p:sp>
      <p:cxnSp>
        <p:nvCxnSpPr>
          <p:cNvPr id="21" name="직선 연결선 20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14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오름차순 정렬일때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index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왼쪽 방향으로 움직여 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a[index-1]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a[index]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작은 수가 올때까지 데이터를 옮긴다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225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1.11111E-6 L -0.1566 0.00417 " pathEditMode="relative" rAng="0" ptsTypes="AA">
                                      <p:cBhvr>
                                        <p:cTn id="2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30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그 외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52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Visual studio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에는 </a:t>
            </a:r>
            <a:r>
              <a:rPr lang="en-US" altLang="ko-KR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algorithm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헤더에 </a:t>
            </a:r>
            <a:r>
              <a:rPr lang="ko-KR" altLang="en-US" sz="1050" dirty="0" err="1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퀵소트를</a:t>
            </a: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이용한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정렬 라이브러리가 </a:t>
            </a:r>
            <a:r>
              <a:rPr lang="ko-KR" altLang="en-US" sz="1050" dirty="0" err="1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내장되어있다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25890" y="2076911"/>
            <a:ext cx="2980023" cy="424731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#include &lt;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stdio.h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&gt;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#include &lt;algorithm&gt;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using namespace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std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#define max 5</a:t>
            </a:r>
          </a:p>
          <a:p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a[5];</a:t>
            </a:r>
          </a:p>
          <a:p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main()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{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int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for(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=0;i&lt;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max;i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++)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{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scanf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(“%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d”,&amp;a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[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i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]);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}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sort(&amp;a[0],&amp;a[max+1]);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return 0;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8130" y="2215411"/>
            <a:ext cx="3137907" cy="3970318"/>
          </a:xfrm>
          <a:prstGeom prst="rect">
            <a:avLst/>
          </a:prstGeom>
          <a:solidFill>
            <a:srgbClr val="FF7C80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template&lt;class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&gt;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void sort(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first, 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last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);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template&lt;class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, class Predicate&gt;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void sort(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first, 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</a:t>
            </a:r>
            <a:r>
              <a:rPr lang="en-US" altLang="ko-KR" dirty="0" err="1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RandomAccessIterator</a:t>
            </a:r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last, 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   Predicate comp</a:t>
            </a:r>
          </a:p>
          <a:p>
            <a:r>
              <a:rPr lang="en-US" altLang="ko-KR" dirty="0">
                <a:solidFill>
                  <a:schemeClr val="bg1"/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   );</a:t>
            </a:r>
            <a:endParaRPr lang="ko-KR" altLang="en-US" dirty="0">
              <a:solidFill>
                <a:schemeClr val="bg1"/>
              </a:solidFill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96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7292 0.00069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4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863674" y="415598"/>
            <a:ext cx="41044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itchFamily="2" charset="-127"/>
                <a:ea typeface="배달의민족 한나" pitchFamily="2" charset="-127"/>
              </a:rPr>
              <a:t>그 외</a:t>
            </a:r>
            <a:endParaRPr lang="en-US" altLang="ko-KR" sz="2800" dirty="0">
              <a:solidFill>
                <a:schemeClr val="tx1">
                  <a:lumMod val="65000"/>
                  <a:lumOff val="35000"/>
                </a:schemeClr>
              </a:solidFill>
              <a:latin typeface="배달의민족 한나" pitchFamily="2" charset="-127"/>
              <a:ea typeface="배달의민족 한나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287610" y="247288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3594" y="193184"/>
            <a:ext cx="7920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ko-KR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5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287610" y="1567726"/>
            <a:ext cx="44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935682" y="919654"/>
            <a:ext cx="4176464" cy="296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</a:pPr>
            <a:r>
              <a:rPr lang="ko-KR" altLang="en-US" sz="1050" dirty="0">
                <a:solidFill>
                  <a:schemeClr val="accent5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질문 받아요</a:t>
            </a:r>
            <a:endParaRPr lang="en-US" altLang="ko-KR" sz="1050" dirty="0">
              <a:solidFill>
                <a:schemeClr val="accent5">
                  <a:lumMod val="50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54"/>
          <a:stretch/>
        </p:blipFill>
        <p:spPr>
          <a:xfrm>
            <a:off x="3437454" y="2888164"/>
            <a:ext cx="2761735" cy="2373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49100" y="2241833"/>
            <a:ext cx="1138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1훈새마을운동 R" panose="02020603020101020101" pitchFamily="18" charset="-127"/>
                <a:ea typeface="1훈새마을운동 R" panose="02020603020101020101" pitchFamily="18" charset="-127"/>
              </a:rPr>
              <a:t>Q&amp;A</a:t>
            </a:r>
            <a:endParaRPr lang="ko-KR" altLang="en-US" sz="3600" dirty="0">
              <a:latin typeface="1훈새마을운동 R" panose="02020603020101020101" pitchFamily="18" charset="-127"/>
              <a:ea typeface="1훈새마을운동 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289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2836</TotalTime>
  <Words>2610</Words>
  <Application>Microsoft Office PowerPoint</Application>
  <PresentationFormat>화면 슬라이드 쇼(4:3)</PresentationFormat>
  <Paragraphs>823</Paragraphs>
  <Slides>67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76" baseType="lpstr">
      <vt:lpstr>1훈새마을운동 R</vt:lpstr>
      <vt:lpstr>나눔바른고딕</vt:lpstr>
      <vt:lpstr>맑은 고딕</vt:lpstr>
      <vt:lpstr>배달의민족 한나</vt:lpstr>
      <vt:lpstr>Arial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김동현</cp:lastModifiedBy>
  <cp:revision>66</cp:revision>
  <dcterms:created xsi:type="dcterms:W3CDTF">2016-06-23T12:44:17Z</dcterms:created>
  <dcterms:modified xsi:type="dcterms:W3CDTF">2016-06-30T12:23:34Z</dcterms:modified>
</cp:coreProperties>
</file>